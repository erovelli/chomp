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6858000" cy="384048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NHE Medicaid + CHIP dental services</c:v>
                </c:pt>
              </c:strCache>
            </c:strRef>
          </c:tx>
          <c:spPr>
            <a:ln w="25400">
              <a:solidFill>
                <a:srgbClr val="2A78D6"/>
              </a:solidFill>
            </a:ln>
          </c:spPr>
          <c:marker>
            <c:symbol val="circle"/>
            <c:size val="7"/>
            <c:spPr>
              <a:solidFill>
                <a:srgbClr val="2A78D6"/>
              </a:solidFill>
              <a:ln>
                <a:solidFill>
                  <a:srgbClr val="FFFFFF"/>
                </a:solidFill>
              </a:ln>
            </c:spPr>
          </c:marker>
          <c:dPt>
            <c:idx val="6"/>
            <c:marker>
              <c:symbol val="circle"/>
              <c:size val="7"/>
              <c:spPr>
                <a:solidFill>
                  <a:srgbClr val="FFFFFF"/>
                </a:solidFill>
                <a:ln w="19050">
                  <a:solidFill>
                    <a:srgbClr val="2A78D6"/>
                  </a:solidFill>
                </a:ln>
              </c:spPr>
            </c:marker>
            <c:spPr>
              <a:ln w="25400">
                <a:solidFill>
                  <a:srgbClr val="2A78D6"/>
                </a:solidFill>
                <a:prstDash val="dash"/>
              </a:ln>
            </c:spPr>
          </c:dPt>
          <c:cat>
            <c:strRef>
              <c:f>Sheet1!$A$2:$A$8</c:f>
              <c:strCache>
                <c:ptCount val="7"/>
                <c:pt idx="0">
                  <c:v>2018</c:v>
                </c:pt>
                <c:pt idx="1">
                  <c:v>2019</c:v>
                </c:pt>
                <c:pt idx="2">
                  <c:v>2020</c:v>
                </c:pt>
                <c:pt idx="3">
                  <c:v>2021</c:v>
                </c:pt>
                <c:pt idx="4">
                  <c:v>2022</c:v>
                </c:pt>
                <c:pt idx="5">
                  <c:v>2023</c:v>
                </c:pt>
                <c:pt idx="6">
                  <c:v>2024</c:v>
                </c:pt>
              </c:strCache>
            </c:strRef>
          </c:cat>
          <c:val>
            <c:numRef>
              <c:f>Sheet1!$B$2:$B$8</c:f>
              <c:numCache>
                <c:formatCode>0.00</c:formatCode>
                <c:ptCount val="7"/>
                <c:pt idx="0">
                  <c:v>11.72</c:v>
                </c:pt>
                <c:pt idx="1">
                  <c:v>12.17</c:v>
                </c:pt>
                <c:pt idx="2">
                  <c:v>10.82</c:v>
                </c:pt>
                <c:pt idx="3">
                  <c:v>13.87</c:v>
                </c:pt>
                <c:pt idx="4">
                  <c:v>15.85</c:v>
                </c:pt>
                <c:pt idx="5">
                  <c:v>17.45</c:v>
                </c:pt>
                <c:pt idx="6">
                  <c:v>18.72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HHS release, all dental codes</c:v>
                </c:pt>
              </c:strCache>
            </c:strRef>
          </c:tx>
          <c:spPr>
            <a:ln w="25400">
              <a:solidFill>
                <a:srgbClr val="EB6834"/>
              </a:solidFill>
            </a:ln>
          </c:spPr>
          <c:marker>
            <c:symbol val="square"/>
            <c:size val="7"/>
            <c:spPr>
              <a:solidFill>
                <a:srgbClr val="EB6834"/>
              </a:solidFill>
              <a:ln>
                <a:solidFill>
                  <a:srgbClr val="FFFFFF"/>
                </a:solidFill>
              </a:ln>
            </c:spPr>
          </c:marker>
          <c:dPt>
            <c:idx val="6"/>
            <c:marker>
              <c:symbol val="square"/>
              <c:size val="7"/>
              <c:spPr>
                <a:solidFill>
                  <a:srgbClr val="FFFFFF"/>
                </a:solidFill>
                <a:ln w="19050">
                  <a:solidFill>
                    <a:srgbClr val="EB6834"/>
                  </a:solidFill>
                </a:ln>
              </c:spPr>
            </c:marker>
            <c:spPr>
              <a:ln w="25400">
                <a:solidFill>
                  <a:srgbClr val="EB6834"/>
                </a:solidFill>
                <a:prstDash val="dash"/>
              </a:ln>
            </c:spPr>
          </c:dPt>
          <c:cat>
            <c:strRef>
              <c:f>Sheet1!$A$2:$A$8</c:f>
              <c:strCache>
                <c:ptCount val="7"/>
                <c:pt idx="0">
                  <c:v>2018</c:v>
                </c:pt>
                <c:pt idx="1">
                  <c:v>2019</c:v>
                </c:pt>
                <c:pt idx="2">
                  <c:v>2020</c:v>
                </c:pt>
                <c:pt idx="3">
                  <c:v>2021</c:v>
                </c:pt>
                <c:pt idx="4">
                  <c:v>2022</c:v>
                </c:pt>
                <c:pt idx="5">
                  <c:v>2023</c:v>
                </c:pt>
                <c:pt idx="6">
                  <c:v>2024</c:v>
                </c:pt>
              </c:strCache>
            </c:strRef>
          </c:cat>
          <c:val>
            <c:numRef>
              <c:f>Sheet1!$C$2:$C$8</c:f>
              <c:numCache>
                <c:formatCode>0.00</c:formatCode>
                <c:ptCount val="7"/>
                <c:pt idx="0">
                  <c:v>4.76</c:v>
                </c:pt>
                <c:pt idx="1">
                  <c:v>5.21</c:v>
                </c:pt>
                <c:pt idx="2">
                  <c:v>4.28</c:v>
                </c:pt>
                <c:pt idx="3">
                  <c:v>6.45</c:v>
                </c:pt>
                <c:pt idx="4">
                  <c:v>7.32</c:v>
                </c:pt>
                <c:pt idx="5">
                  <c:v>8.14</c:v>
                </c:pt>
                <c:pt idx="6">
                  <c:v>8.05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Mapped to 50 states + DC</c:v>
                </c:pt>
              </c:strCache>
            </c:strRef>
          </c:tx>
          <c:spPr>
            <a:ln w="25400">
              <a:solidFill>
                <a:srgbClr val="1BAF7A"/>
              </a:solidFill>
            </a:ln>
          </c:spPr>
          <c:marker>
            <c:symbol val="triangle"/>
            <c:size val="7"/>
            <c:spPr>
              <a:solidFill>
                <a:srgbClr val="1BAF7A"/>
              </a:solidFill>
              <a:ln>
                <a:solidFill>
                  <a:srgbClr val="FFFFFF"/>
                </a:solidFill>
              </a:ln>
            </c:spPr>
          </c:marker>
          <c:dPt>
            <c:idx val="6"/>
            <c:marker>
              <c:symbol val="triangle"/>
              <c:size val="7"/>
              <c:spPr>
                <a:solidFill>
                  <a:srgbClr val="FFFFFF"/>
                </a:solidFill>
                <a:ln w="19050">
                  <a:solidFill>
                    <a:srgbClr val="1BAF7A"/>
                  </a:solidFill>
                </a:ln>
              </c:spPr>
            </c:marker>
            <c:spPr>
              <a:ln w="25400">
                <a:solidFill>
                  <a:srgbClr val="1BAF7A"/>
                </a:solidFill>
                <a:prstDash val="dash"/>
              </a:ln>
            </c:spPr>
          </c:dPt>
          <c:dLbls>
            <c:dLbl>
              <c:idx val="0"/>
              <c:tx>
                <c:rich>
                  <a:bodyPr/>
                  <a:lstStyle/>
                  <a:p>
                    <a:r>
                      <a:rPr sz="800">
                        <a:solidFill>
                          <a:srgbClr val="52514E"/>
                        </a:solidFill>
                        <a:latin typeface="Arial"/>
                      </a:rPr>
                      <a:t>39%</a:t>
                    </a:r>
                  </a:p>
                </c:rich>
              </c:tx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rPr sz="800">
                        <a:solidFill>
                          <a:srgbClr val="52514E"/>
                        </a:solidFill>
                        <a:latin typeface="Arial"/>
                      </a:rPr>
                      <a:t>40%</a:t>
                    </a:r>
                  </a:p>
                </c:rich>
              </c:tx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r>
                      <a:rPr sz="800">
                        <a:solidFill>
                          <a:srgbClr val="52514E"/>
                        </a:solidFill>
                        <a:latin typeface="Arial"/>
                      </a:rPr>
                      <a:t>36%</a:t>
                    </a:r>
                  </a:p>
                </c:rich>
              </c:tx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/>
                  <a:lstStyle/>
                  <a:p>
                    <a:r>
                      <a:rPr sz="800">
                        <a:solidFill>
                          <a:srgbClr val="52514E"/>
                        </a:solidFill>
                        <a:latin typeface="Arial"/>
                      </a:rPr>
                      <a:t>43%</a:t>
                    </a:r>
                  </a:p>
                </c:rich>
              </c:tx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>
                <c:rich>
                  <a:bodyPr/>
                  <a:lstStyle/>
                  <a:p>
                    <a:r>
                      <a:rPr sz="800">
                        <a:solidFill>
                          <a:srgbClr val="52514E"/>
                        </a:solidFill>
                        <a:latin typeface="Arial"/>
                      </a:rPr>
                      <a:t>44%</a:t>
                    </a:r>
                  </a:p>
                </c:rich>
              </c:tx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tx>
                <c:rich>
                  <a:bodyPr/>
                  <a:lstStyle/>
                  <a:p>
                    <a:r>
                      <a:rPr sz="800">
                        <a:solidFill>
                          <a:srgbClr val="52514E"/>
                        </a:solidFill>
                        <a:latin typeface="Arial"/>
                      </a:rPr>
                      <a:t>45%</a:t>
                    </a:r>
                  </a:p>
                </c:rich>
              </c:tx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tx>
                <c:rich>
                  <a:bodyPr/>
                  <a:lstStyle/>
                  <a:p>
                    <a:r>
                      <a:rPr sz="800">
                        <a:solidFill>
                          <a:srgbClr val="52514E"/>
                        </a:solidFill>
                        <a:latin typeface="Arial"/>
                      </a:rPr>
                      <a:t>42%</a:t>
                    </a:r>
                  </a:p>
                </c:rich>
              </c:tx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Sheet1!$A$2:$A$8</c:f>
              <c:strCache>
                <c:ptCount val="7"/>
                <c:pt idx="0">
                  <c:v>2018</c:v>
                </c:pt>
                <c:pt idx="1">
                  <c:v>2019</c:v>
                </c:pt>
                <c:pt idx="2">
                  <c:v>2020</c:v>
                </c:pt>
                <c:pt idx="3">
                  <c:v>2021</c:v>
                </c:pt>
                <c:pt idx="4">
                  <c:v>2022</c:v>
                </c:pt>
                <c:pt idx="5">
                  <c:v>2023</c:v>
                </c:pt>
                <c:pt idx="6">
                  <c:v>2024</c:v>
                </c:pt>
              </c:strCache>
            </c:strRef>
          </c:cat>
          <c:val>
            <c:numRef>
              <c:f>Sheet1!$D$2:$D$8</c:f>
              <c:numCache>
                <c:formatCode>0.00</c:formatCode>
                <c:ptCount val="7"/>
                <c:pt idx="0">
                  <c:v>4.58</c:v>
                </c:pt>
                <c:pt idx="1">
                  <c:v>4.83</c:v>
                </c:pt>
                <c:pt idx="2">
                  <c:v>3.93</c:v>
                </c:pt>
                <c:pt idx="3">
                  <c:v>5.9</c:v>
                </c:pt>
                <c:pt idx="4">
                  <c:v>6.91</c:v>
                </c:pt>
                <c:pt idx="5">
                  <c:v>7.81</c:v>
                </c:pt>
                <c:pt idx="6">
                  <c:v>7.87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52514E"/>
            </a:solidFill>
          </a:ln>
        </c:spPr>
        <c:txPr>
          <a:bodyPr/>
          <a:lstStyle/>
          <a:p>
            <a:pPr>
              <a:defRPr sz="900">
                <a:solidFill>
                  <a:srgbClr val="52514E"/>
                </a:solidFill>
                <a:latin typeface="Arial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20.0"/>
          <c:min val="0.0"/>
        </c:scaling>
        <c:delete val="0"/>
        <c:axPos val="l"/>
        <c:majorGridlines>
          <c:spPr>
            <a:ln w="9525">
              <a:solidFill>
                <a:srgbClr val="E4E3DF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900" b="0">
                    <a:solidFill>
                      <a:srgbClr val="0B0B0B"/>
                    </a:solidFill>
                    <a:latin typeface="Arial"/>
                  </a:rPr>
                  <a:t>Dental spending ($ billions)</a:t>
                </a:r>
              </a:p>
            </c:rich>
          </c:tx>
          <c:layout/>
          <c:overlay val="0"/>
        </c:title>
        <c:numFmt formatCode="0.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00">
                <a:solidFill>
                  <a:srgbClr val="52514E"/>
                </a:solidFill>
                <a:latin typeface="Arial"/>
              </a:defRPr>
            </a:pPr>
          </a:p>
        </c:txPr>
        <c:crossAx val="2118791784"/>
        <c:crosses val="autoZero"/>
        <c:majorUnit val="2.5"/>
      </c:valAx>
    </c:plotArea>
    <c:legend>
      <c:legendPos val="t"/>
      <c:layout/>
      <c:overlay val="0"/>
      <c:txPr>
        <a:bodyPr/>
        <a:lstStyle/>
        <a:p>
          <a:pPr>
            <a:defRPr sz="900">
              <a:solidFill>
                <a:srgbClr val="0B0B0B"/>
              </a:solidFill>
              <a:latin typeface="Arial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Chart 1"/>
          <p:cNvGraphicFramePr>
            <a:graphicFrameLocks noGrp="1"/>
          </p:cNvGraphicFramePr>
          <p:nvPr/>
        </p:nvGraphicFramePr>
        <p:xfrm>
          <a:off x="91440" y="91440"/>
          <a:ext cx="6675120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